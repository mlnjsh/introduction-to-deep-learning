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63" r:id="rId4"/>
    <p:sldId id="266" r:id="rId5"/>
    <p:sldId id="269" r:id="rId6"/>
    <p:sldId id="270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AF0F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AF0F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AF0F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AF0F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kicker"/>
          <p:cNvSpPr/>
          <p:nvPr/>
        </p:nvSpPr>
        <p:spPr>
          <a:xfrm>
            <a:off x="762000" y="1905000"/>
            <a:ext cx="5842000" cy="3302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1400" b="1" spc="400" dirty="0">
                <a:solidFill>
                  <a:srgbClr val="2FE6C8"/>
                </a:solidFill>
                <a:latin typeface="Spline Sans Mono"/>
              </a:rPr>
              <a:t>FOUNDATIONS · SESSION 01</a:t>
            </a:r>
          </a:p>
        </p:txBody>
      </p:sp>
      <p:sp>
        <p:nvSpPr>
          <p:cNvPr id="129" name="title"/>
          <p:cNvSpPr/>
          <p:nvPr/>
        </p:nvSpPr>
        <p:spPr>
          <a:xfrm>
            <a:off x="711200" y="2413000"/>
            <a:ext cx="6604000" cy="254000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ct val="98000"/>
              </a:lnSpc>
            </a:pPr>
            <a:r>
              <a:rPr lang="en-US" sz="6600" b="1" spc="-100">
                <a:solidFill>
                  <a:srgbClr val="EAF0F7"/>
                </a:solidFill>
                <a:latin typeface="Fraunces"/>
              </a:rPr>
              <a:t>Artificial</a:t>
            </a:r>
          </a:p>
          <a:p>
            <a:pPr>
              <a:lnSpc>
                <a:spcPct val="98000"/>
              </a:lnSpc>
            </a:pPr>
            <a:r>
              <a:rPr lang="en-US" sz="6600" b="1" i="1" spc="-100">
                <a:solidFill>
                  <a:srgbClr val="2FE6C8"/>
                </a:solidFill>
                <a:latin typeface="Fraunces"/>
              </a:rPr>
              <a:t>Neural</a:t>
            </a:r>
            <a:r>
              <a:rPr lang="en-US" sz="6600" b="1" spc="-100">
                <a:solidFill>
                  <a:srgbClr val="56627A"/>
                </a:solidFill>
                <a:latin typeface="Fraunces"/>
              </a:rPr>
              <a:t> Networks</a:t>
            </a:r>
          </a:p>
        </p:txBody>
      </p:sp>
      <p:sp>
        <p:nvSpPr>
          <p:cNvPr id="130" name="subtitle"/>
          <p:cNvSpPr/>
          <p:nvPr/>
        </p:nvSpPr>
        <p:spPr>
          <a:xfrm>
            <a:off x="762000" y="5232400"/>
            <a:ext cx="5969000" cy="76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8A97AB"/>
                </a:solidFill>
                <a:latin typeface="Familjen Grotesk"/>
              </a:rPr>
              <a:t>From a single neuron to a network that learns — intuition, concept, and the math behind it.</a:t>
            </a:r>
          </a:p>
        </p:txBody>
      </p:sp>
      <p:cxnSp>
        <p:nvCxnSpPr>
          <p:cNvPr id="201" name="e0-0-1-0"/>
          <p:cNvCxnSpPr/>
          <p:nvPr/>
        </p:nvCxnSpPr>
        <p:spPr>
          <a:xfrm>
            <a:off x="7429500" y="1524000"/>
            <a:ext cx="1612900" cy="508000"/>
          </a:xfrm>
          <a:prstGeom prst="line">
            <a:avLst/>
          </a:prstGeom>
          <a:ln w="9525" cap="rnd">
            <a:solidFill>
              <a:srgbClr val="9B8CFF">
                <a:alpha val="38000"/>
              </a:srgbClr>
            </a:solidFill>
          </a:ln>
        </p:spPr>
      </p:cxnSp>
      <p:cxnSp>
        <p:nvCxnSpPr>
          <p:cNvPr id="202" name="e0-0-1-1"/>
          <p:cNvCxnSpPr/>
          <p:nvPr/>
        </p:nvCxnSpPr>
        <p:spPr>
          <a:xfrm>
            <a:off x="7429500" y="1524000"/>
            <a:ext cx="1612900" cy="1651000"/>
          </a:xfrm>
          <a:prstGeom prst="line">
            <a:avLst/>
          </a:prstGeom>
          <a:ln w="9525" cap="rnd">
            <a:solidFill>
              <a:srgbClr val="243047">
                <a:alpha val="45000"/>
              </a:srgbClr>
            </a:solidFill>
          </a:ln>
        </p:spPr>
      </p:cxnSp>
      <p:cxnSp>
        <p:nvCxnSpPr>
          <p:cNvPr id="203" name="e0-0-1-2"/>
          <p:cNvCxnSpPr/>
          <p:nvPr/>
        </p:nvCxnSpPr>
        <p:spPr>
          <a:xfrm>
            <a:off x="7429500" y="1524000"/>
            <a:ext cx="1612900" cy="2794000"/>
          </a:xfrm>
          <a:prstGeom prst="line">
            <a:avLst/>
          </a:prstGeom>
          <a:ln w="9525" cap="rnd">
            <a:solidFill>
              <a:srgbClr val="9B8CFF">
                <a:alpha val="38000"/>
              </a:srgbClr>
            </a:solidFill>
          </a:ln>
        </p:spPr>
      </p:cxnSp>
      <p:cxnSp>
        <p:nvCxnSpPr>
          <p:cNvPr id="204" name="e0-1-1-0"/>
          <p:cNvCxnSpPr/>
          <p:nvPr/>
        </p:nvCxnSpPr>
        <p:spPr>
          <a:xfrm flipV="1">
            <a:off x="7429500" y="2032000"/>
            <a:ext cx="1612900" cy="571500"/>
          </a:xfrm>
          <a:prstGeom prst="line">
            <a:avLst/>
          </a:prstGeom>
          <a:ln w="9525" cap="rnd">
            <a:solidFill>
              <a:srgbClr val="243047">
                <a:alpha val="45000"/>
              </a:srgbClr>
            </a:solidFill>
          </a:ln>
        </p:spPr>
      </p:cxnSp>
      <p:cxnSp>
        <p:nvCxnSpPr>
          <p:cNvPr id="205" name="e0-1-1-1"/>
          <p:cNvCxnSpPr/>
          <p:nvPr/>
        </p:nvCxnSpPr>
        <p:spPr>
          <a:xfrm>
            <a:off x="7429500" y="2603500"/>
            <a:ext cx="1612900" cy="571500"/>
          </a:xfrm>
          <a:prstGeom prst="line">
            <a:avLst/>
          </a:prstGeom>
          <a:ln w="9525" cap="rnd">
            <a:solidFill>
              <a:srgbClr val="9B8CFF">
                <a:alpha val="38000"/>
              </a:srgbClr>
            </a:solidFill>
          </a:ln>
        </p:spPr>
      </p:cxnSp>
      <p:cxnSp>
        <p:nvCxnSpPr>
          <p:cNvPr id="206" name="e0-1-1-2"/>
          <p:cNvCxnSpPr/>
          <p:nvPr/>
        </p:nvCxnSpPr>
        <p:spPr>
          <a:xfrm>
            <a:off x="7429500" y="2603500"/>
            <a:ext cx="1612900" cy="1714500"/>
          </a:xfrm>
          <a:prstGeom prst="line">
            <a:avLst/>
          </a:prstGeom>
          <a:ln w="9525" cap="rnd">
            <a:solidFill>
              <a:srgbClr val="243047">
                <a:alpha val="45000"/>
              </a:srgbClr>
            </a:solidFill>
          </a:ln>
        </p:spPr>
      </p:cxnSp>
      <p:cxnSp>
        <p:nvCxnSpPr>
          <p:cNvPr id="207" name="e0-2-1-0"/>
          <p:cNvCxnSpPr/>
          <p:nvPr/>
        </p:nvCxnSpPr>
        <p:spPr>
          <a:xfrm flipV="1">
            <a:off x="7429500" y="2032000"/>
            <a:ext cx="1612900" cy="1651000"/>
          </a:xfrm>
          <a:prstGeom prst="line">
            <a:avLst/>
          </a:prstGeom>
          <a:ln w="9525" cap="rnd">
            <a:solidFill>
              <a:srgbClr val="9B8CFF">
                <a:alpha val="38000"/>
              </a:srgbClr>
            </a:solidFill>
          </a:ln>
        </p:spPr>
      </p:cxnSp>
      <p:cxnSp>
        <p:nvCxnSpPr>
          <p:cNvPr id="208" name="e0-2-1-1"/>
          <p:cNvCxnSpPr/>
          <p:nvPr/>
        </p:nvCxnSpPr>
        <p:spPr>
          <a:xfrm flipV="1">
            <a:off x="7429500" y="3175000"/>
            <a:ext cx="1612900" cy="508000"/>
          </a:xfrm>
          <a:prstGeom prst="line">
            <a:avLst/>
          </a:prstGeom>
          <a:ln w="22225" cap="rnd">
            <a:solidFill>
              <a:srgbClr val="2FE6C8">
                <a:alpha val="100000"/>
              </a:srgbClr>
            </a:solidFill>
            <a:headEnd type="none"/>
          </a:ln>
          <a:effectLst>
            <a:glow rad="38100">
              <a:srgbClr val="2FE6C8">
                <a:alpha val="40000"/>
              </a:srgbClr>
            </a:glow>
          </a:effectLst>
        </p:spPr>
      </p:cxnSp>
      <p:cxnSp>
        <p:nvCxnSpPr>
          <p:cNvPr id="209" name="e0-2-1-2"/>
          <p:cNvCxnSpPr/>
          <p:nvPr/>
        </p:nvCxnSpPr>
        <p:spPr>
          <a:xfrm>
            <a:off x="7429500" y="3683000"/>
            <a:ext cx="1612900" cy="635000"/>
          </a:xfrm>
          <a:prstGeom prst="line">
            <a:avLst/>
          </a:prstGeom>
          <a:ln w="9525" cap="rnd">
            <a:solidFill>
              <a:srgbClr val="9B8CFF">
                <a:alpha val="38000"/>
              </a:srgbClr>
            </a:solidFill>
          </a:ln>
        </p:spPr>
      </p:cxnSp>
      <p:cxnSp>
        <p:nvCxnSpPr>
          <p:cNvPr id="210" name="e0-3-1-0"/>
          <p:cNvCxnSpPr/>
          <p:nvPr/>
        </p:nvCxnSpPr>
        <p:spPr>
          <a:xfrm flipV="1">
            <a:off x="7429500" y="2032000"/>
            <a:ext cx="1612900" cy="2730500"/>
          </a:xfrm>
          <a:prstGeom prst="line">
            <a:avLst/>
          </a:prstGeom>
          <a:ln w="9525" cap="rnd">
            <a:solidFill>
              <a:srgbClr val="243047">
                <a:alpha val="45000"/>
              </a:srgbClr>
            </a:solidFill>
          </a:ln>
        </p:spPr>
      </p:cxnSp>
      <p:cxnSp>
        <p:nvCxnSpPr>
          <p:cNvPr id="211" name="e0-3-1-1"/>
          <p:cNvCxnSpPr/>
          <p:nvPr/>
        </p:nvCxnSpPr>
        <p:spPr>
          <a:xfrm flipV="1">
            <a:off x="7429500" y="3175000"/>
            <a:ext cx="1612900" cy="1587500"/>
          </a:xfrm>
          <a:prstGeom prst="line">
            <a:avLst/>
          </a:prstGeom>
          <a:ln w="9525" cap="rnd">
            <a:solidFill>
              <a:srgbClr val="9B8CFF">
                <a:alpha val="38000"/>
              </a:srgbClr>
            </a:solidFill>
          </a:ln>
        </p:spPr>
      </p:cxnSp>
      <p:cxnSp>
        <p:nvCxnSpPr>
          <p:cNvPr id="212" name="e0-3-1-2"/>
          <p:cNvCxnSpPr/>
          <p:nvPr/>
        </p:nvCxnSpPr>
        <p:spPr>
          <a:xfrm flipV="1">
            <a:off x="7429500" y="4318000"/>
            <a:ext cx="1612900" cy="444500"/>
          </a:xfrm>
          <a:prstGeom prst="line">
            <a:avLst/>
          </a:prstGeom>
          <a:ln w="9525" cap="rnd">
            <a:solidFill>
              <a:srgbClr val="243047">
                <a:alpha val="45000"/>
              </a:srgbClr>
            </a:solidFill>
          </a:ln>
        </p:spPr>
      </p:cxnSp>
      <p:cxnSp>
        <p:nvCxnSpPr>
          <p:cNvPr id="213" name="e1-0-2-0"/>
          <p:cNvCxnSpPr/>
          <p:nvPr/>
        </p:nvCxnSpPr>
        <p:spPr>
          <a:xfrm>
            <a:off x="9042400" y="2032000"/>
            <a:ext cx="1625600" cy="571500"/>
          </a:xfrm>
          <a:prstGeom prst="line">
            <a:avLst/>
          </a:prstGeom>
          <a:ln w="9525" cap="rnd">
            <a:solidFill>
              <a:srgbClr val="9B8CFF">
                <a:alpha val="38000"/>
              </a:srgbClr>
            </a:solidFill>
          </a:ln>
        </p:spPr>
      </p:cxnSp>
      <p:cxnSp>
        <p:nvCxnSpPr>
          <p:cNvPr id="214" name="e1-0-2-1"/>
          <p:cNvCxnSpPr/>
          <p:nvPr/>
        </p:nvCxnSpPr>
        <p:spPr>
          <a:xfrm>
            <a:off x="9042400" y="2032000"/>
            <a:ext cx="1625600" cy="1714500"/>
          </a:xfrm>
          <a:prstGeom prst="line">
            <a:avLst/>
          </a:prstGeom>
          <a:ln w="9525" cap="rnd">
            <a:solidFill>
              <a:srgbClr val="243047">
                <a:alpha val="45000"/>
              </a:srgbClr>
            </a:solidFill>
          </a:ln>
        </p:spPr>
      </p:cxnSp>
      <p:cxnSp>
        <p:nvCxnSpPr>
          <p:cNvPr id="215" name="e1-1-2-0"/>
          <p:cNvCxnSpPr/>
          <p:nvPr/>
        </p:nvCxnSpPr>
        <p:spPr>
          <a:xfrm flipV="1">
            <a:off x="9042400" y="2603500"/>
            <a:ext cx="1625600" cy="571500"/>
          </a:xfrm>
          <a:prstGeom prst="line">
            <a:avLst/>
          </a:prstGeom>
          <a:ln w="9525" cap="rnd">
            <a:solidFill>
              <a:srgbClr val="243047">
                <a:alpha val="45000"/>
              </a:srgbClr>
            </a:solidFill>
          </a:ln>
        </p:spPr>
      </p:cxnSp>
      <p:cxnSp>
        <p:nvCxnSpPr>
          <p:cNvPr id="216" name="e1-1-2-1"/>
          <p:cNvCxnSpPr/>
          <p:nvPr/>
        </p:nvCxnSpPr>
        <p:spPr>
          <a:xfrm>
            <a:off x="9042400" y="3175000"/>
            <a:ext cx="1625600" cy="571500"/>
          </a:xfrm>
          <a:prstGeom prst="line">
            <a:avLst/>
          </a:prstGeom>
          <a:ln w="22225" cap="rnd">
            <a:solidFill>
              <a:srgbClr val="2FE6C8">
                <a:alpha val="100000"/>
              </a:srgbClr>
            </a:solidFill>
            <a:headEnd type="none"/>
          </a:ln>
          <a:effectLst>
            <a:glow rad="38100">
              <a:srgbClr val="2FE6C8">
                <a:alpha val="40000"/>
              </a:srgbClr>
            </a:glow>
          </a:effectLst>
        </p:spPr>
      </p:cxnSp>
      <p:cxnSp>
        <p:nvCxnSpPr>
          <p:cNvPr id="217" name="e1-2-2-0"/>
          <p:cNvCxnSpPr/>
          <p:nvPr/>
        </p:nvCxnSpPr>
        <p:spPr>
          <a:xfrm flipV="1">
            <a:off x="9042400" y="2603500"/>
            <a:ext cx="1625600" cy="1714500"/>
          </a:xfrm>
          <a:prstGeom prst="line">
            <a:avLst/>
          </a:prstGeom>
          <a:ln w="9525" cap="rnd">
            <a:solidFill>
              <a:srgbClr val="9B8CFF">
                <a:alpha val="38000"/>
              </a:srgbClr>
            </a:solidFill>
          </a:ln>
        </p:spPr>
      </p:cxnSp>
      <p:cxnSp>
        <p:nvCxnSpPr>
          <p:cNvPr id="218" name="e1-2-2-1"/>
          <p:cNvCxnSpPr/>
          <p:nvPr/>
        </p:nvCxnSpPr>
        <p:spPr>
          <a:xfrm flipV="1">
            <a:off x="9042400" y="3746500"/>
            <a:ext cx="1625600" cy="571500"/>
          </a:xfrm>
          <a:prstGeom prst="line">
            <a:avLst/>
          </a:prstGeom>
          <a:ln w="9525" cap="rnd">
            <a:solidFill>
              <a:srgbClr val="243047">
                <a:alpha val="45000"/>
              </a:srgbClr>
            </a:solidFill>
          </a:ln>
        </p:spPr>
      </p:cxnSp>
      <p:sp>
        <p:nvSpPr>
          <p:cNvPr id="220" name="pulse"/>
          <p:cNvSpPr/>
          <p:nvPr/>
        </p:nvSpPr>
        <p:spPr>
          <a:xfrm>
            <a:off x="9798050" y="3403600"/>
            <a:ext cx="114300" cy="114300"/>
          </a:xfrm>
          <a:prstGeom prst="ellipse">
            <a:avLst/>
          </a:prstGeom>
          <a:solidFill>
            <a:srgbClr val="2FE6C8"/>
          </a:solidFill>
          <a:ln>
            <a:noFill/>
          </a:ln>
          <a:effectLst>
            <a:glow rad="25400">
              <a:srgbClr val="2FE6C8">
                <a:alpha val="5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221" name="node"/>
          <p:cNvSpPr/>
          <p:nvPr/>
        </p:nvSpPr>
        <p:spPr>
          <a:xfrm>
            <a:off x="7213600" y="1308100"/>
            <a:ext cx="431800" cy="431800"/>
          </a:xfrm>
          <a:prstGeom prst="ellipse">
            <a:avLst/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2" name="node"/>
          <p:cNvSpPr/>
          <p:nvPr/>
        </p:nvSpPr>
        <p:spPr>
          <a:xfrm>
            <a:off x="7213600" y="2387600"/>
            <a:ext cx="431800" cy="431800"/>
          </a:xfrm>
          <a:prstGeom prst="ellipse">
            <a:avLst/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3" name="node"/>
          <p:cNvSpPr/>
          <p:nvPr/>
        </p:nvSpPr>
        <p:spPr>
          <a:xfrm>
            <a:off x="7213600" y="3467100"/>
            <a:ext cx="431800" cy="431800"/>
          </a:xfrm>
          <a:prstGeom prst="ellipse">
            <a:avLst/>
          </a:prstGeom>
          <a:solidFill>
            <a:srgbClr val="1B2740"/>
          </a:solidFill>
          <a:ln w="19050">
            <a:solidFill>
              <a:srgbClr val="2FE6C8"/>
            </a:solidFill>
          </a:ln>
          <a:effectLst>
            <a:glow rad="50800">
              <a:srgbClr val="2FE6C8">
                <a:alpha val="30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224" name="node"/>
          <p:cNvSpPr/>
          <p:nvPr/>
        </p:nvSpPr>
        <p:spPr>
          <a:xfrm>
            <a:off x="7213600" y="4546600"/>
            <a:ext cx="431800" cy="431800"/>
          </a:xfrm>
          <a:prstGeom prst="ellipse">
            <a:avLst/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5" name="node"/>
          <p:cNvSpPr/>
          <p:nvPr/>
        </p:nvSpPr>
        <p:spPr>
          <a:xfrm>
            <a:off x="8826500" y="1816100"/>
            <a:ext cx="431800" cy="431800"/>
          </a:xfrm>
          <a:prstGeom prst="ellipse">
            <a:avLst/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6" name="node"/>
          <p:cNvSpPr/>
          <p:nvPr/>
        </p:nvSpPr>
        <p:spPr>
          <a:xfrm>
            <a:off x="8826500" y="2959100"/>
            <a:ext cx="431800" cy="431800"/>
          </a:xfrm>
          <a:prstGeom prst="ellipse">
            <a:avLst/>
          </a:prstGeom>
          <a:solidFill>
            <a:schemeClr val="accent6"/>
          </a:solidFill>
          <a:ln w="25400">
            <a:solidFill>
              <a:srgbClr val="FFB27D"/>
            </a:solidFill>
          </a:ln>
          <a:effectLst>
            <a:glow rad="152400">
              <a:srgbClr val="FF9D5C">
                <a:alpha val="5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227" name="core"/>
          <p:cNvSpPr/>
          <p:nvPr/>
        </p:nvSpPr>
        <p:spPr>
          <a:xfrm>
            <a:off x="8140700" y="3361690"/>
            <a:ext cx="127000" cy="12700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8" name="node"/>
          <p:cNvSpPr/>
          <p:nvPr/>
        </p:nvSpPr>
        <p:spPr>
          <a:xfrm>
            <a:off x="8826500" y="4102100"/>
            <a:ext cx="431800" cy="431800"/>
          </a:xfrm>
          <a:prstGeom prst="ellipse">
            <a:avLst/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9" name="node"/>
          <p:cNvSpPr/>
          <p:nvPr/>
        </p:nvSpPr>
        <p:spPr>
          <a:xfrm>
            <a:off x="10452100" y="2387600"/>
            <a:ext cx="431800" cy="431800"/>
          </a:xfrm>
          <a:prstGeom prst="ellipse">
            <a:avLst/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0" name="node"/>
          <p:cNvSpPr/>
          <p:nvPr/>
        </p:nvSpPr>
        <p:spPr>
          <a:xfrm>
            <a:off x="10452100" y="3530600"/>
            <a:ext cx="431800" cy="431800"/>
          </a:xfrm>
          <a:prstGeom prst="ellipse">
            <a:avLst/>
          </a:prstGeom>
          <a:solidFill>
            <a:srgbClr val="1B2740"/>
          </a:solidFill>
          <a:ln w="19050">
            <a:solidFill>
              <a:srgbClr val="2FE6C8"/>
            </a:solidFill>
          </a:ln>
          <a:effectLst>
            <a:glow rad="50800">
              <a:srgbClr val="2FE6C8">
                <a:alpha val="30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231" name="lbl"/>
          <p:cNvSpPr/>
          <p:nvPr/>
        </p:nvSpPr>
        <p:spPr>
          <a:xfrm>
            <a:off x="6794500" y="5461000"/>
            <a:ext cx="1270000" cy="2540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lang="en-US" sz="1000" spc="300">
                <a:solidFill>
                  <a:srgbClr val="8A97AB"/>
                </a:solidFill>
                <a:latin typeface="Spline Sans Mono"/>
              </a:rPr>
              <a:t>INPUT</a:t>
            </a:r>
          </a:p>
        </p:txBody>
      </p:sp>
      <p:sp>
        <p:nvSpPr>
          <p:cNvPr id="232" name="lbl"/>
          <p:cNvSpPr/>
          <p:nvPr/>
        </p:nvSpPr>
        <p:spPr>
          <a:xfrm>
            <a:off x="8407400" y="5461000"/>
            <a:ext cx="1270000" cy="2540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lang="en-US" sz="1000" spc="300">
                <a:solidFill>
                  <a:srgbClr val="8A97AB"/>
                </a:solidFill>
                <a:latin typeface="Spline Sans Mono"/>
              </a:rPr>
              <a:t>HIDDEN</a:t>
            </a:r>
          </a:p>
        </p:txBody>
      </p:sp>
      <p:sp>
        <p:nvSpPr>
          <p:cNvPr id="233" name="lbl"/>
          <p:cNvSpPr/>
          <p:nvPr/>
        </p:nvSpPr>
        <p:spPr>
          <a:xfrm>
            <a:off x="10033000" y="5461000"/>
            <a:ext cx="1270000" cy="254000"/>
          </a:xfrm>
          <a:prstGeom prst="rect">
            <a:avLst/>
          </a:prstGeom>
          <a:noFill/>
        </p:spPr>
        <p:txBody>
          <a:bodyPr wrap="none"/>
          <a:lstStyle/>
          <a:p>
            <a:pPr algn="ctr"/>
            <a:r>
              <a:rPr lang="en-US" sz="1000" spc="300">
                <a:solidFill>
                  <a:srgbClr val="8A97AB"/>
                </a:solidFill>
                <a:latin typeface="Spline Sans Mono"/>
              </a:rPr>
              <a:t>OUTPUT</a:t>
            </a:r>
          </a:p>
        </p:txBody>
      </p:sp>
      <p:sp>
        <p:nvSpPr>
          <p:cNvPr id="2" name="node">
            <a:extLst>
              <a:ext uri="{FF2B5EF4-FFF2-40B4-BE49-F238E27FC236}">
                <a16:creationId xmlns:a16="http://schemas.microsoft.com/office/drawing/2014/main" id="{1853E813-C148-E45C-A064-FB62E5568C90}"/>
              </a:ext>
            </a:extLst>
          </p:cNvPr>
          <p:cNvSpPr/>
          <p:nvPr/>
        </p:nvSpPr>
        <p:spPr>
          <a:xfrm>
            <a:off x="11315700" y="3042920"/>
            <a:ext cx="431800" cy="431800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B27D"/>
            </a:solidFill>
          </a:ln>
          <a:effectLst>
            <a:glow rad="152400">
              <a:srgbClr val="FF9D5C">
                <a:alpha val="55000"/>
              </a:srgbClr>
            </a:glo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core">
            <a:extLst>
              <a:ext uri="{FF2B5EF4-FFF2-40B4-BE49-F238E27FC236}">
                <a16:creationId xmlns:a16="http://schemas.microsoft.com/office/drawing/2014/main" id="{A0A42C39-6426-CBFF-38FD-8AEE1487CA0C}"/>
              </a:ext>
            </a:extLst>
          </p:cNvPr>
          <p:cNvSpPr/>
          <p:nvPr/>
        </p:nvSpPr>
        <p:spPr>
          <a:xfrm>
            <a:off x="8978900" y="3136900"/>
            <a:ext cx="127000" cy="12700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core">
            <a:extLst>
              <a:ext uri="{FF2B5EF4-FFF2-40B4-BE49-F238E27FC236}">
                <a16:creationId xmlns:a16="http://schemas.microsoft.com/office/drawing/2014/main" id="{98A26ED3-6F25-8A1B-E39C-0639BA2091D8}"/>
              </a:ext>
            </a:extLst>
          </p:cNvPr>
          <p:cNvSpPr/>
          <p:nvPr/>
        </p:nvSpPr>
        <p:spPr>
          <a:xfrm>
            <a:off x="11463020" y="3219450"/>
            <a:ext cx="127000" cy="127000"/>
          </a:xfrm>
          <a:prstGeom prst="ellipse">
            <a:avLst/>
          </a:prstGeom>
          <a:solidFill>
            <a:srgbClr val="FFF1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E1472E-D77F-BC81-96F8-4ED8B9760764}"/>
              </a:ext>
            </a:extLst>
          </p:cNvPr>
          <p:cNvCxnSpPr>
            <a:stCxn id="229" idx="5"/>
            <a:endCxn id="2" idx="1"/>
          </p:cNvCxnSpPr>
          <p:nvPr/>
        </p:nvCxnSpPr>
        <p:spPr>
          <a:xfrm>
            <a:off x="10820664" y="2756164"/>
            <a:ext cx="558272" cy="349992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D28E08-A40F-C2D1-6F80-4DCC8364D447}"/>
              </a:ext>
            </a:extLst>
          </p:cNvPr>
          <p:cNvCxnSpPr>
            <a:cxnSpLocks/>
            <a:stCxn id="230" idx="6"/>
            <a:endCxn id="2" idx="3"/>
          </p:cNvCxnSpPr>
          <p:nvPr/>
        </p:nvCxnSpPr>
        <p:spPr>
          <a:xfrm flipV="1">
            <a:off x="10883900" y="3411484"/>
            <a:ext cx="495036" cy="335016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201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" name="bge"/>
          <p:cNvCxnSpPr/>
          <p:nvPr/>
        </p:nvCxnSpPr>
        <p:spPr>
          <a:xfrm>
            <a:off x="10642600" y="889000"/>
            <a:ext cx="762000" cy="6096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cxnSp>
        <p:nvCxnSpPr>
          <p:cNvPr id="302" name="bge"/>
          <p:cNvCxnSpPr/>
          <p:nvPr/>
        </p:nvCxnSpPr>
        <p:spPr>
          <a:xfrm>
            <a:off x="10642600" y="1498600"/>
            <a:ext cx="762000" cy="6096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cxnSp>
        <p:nvCxnSpPr>
          <p:cNvPr id="303" name="bge"/>
          <p:cNvCxnSpPr/>
          <p:nvPr/>
        </p:nvCxnSpPr>
        <p:spPr>
          <a:xfrm>
            <a:off x="10642600" y="2108200"/>
            <a:ext cx="762000" cy="5588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cxnSp>
        <p:nvCxnSpPr>
          <p:cNvPr id="304" name="bge"/>
          <p:cNvCxnSpPr/>
          <p:nvPr/>
        </p:nvCxnSpPr>
        <p:spPr>
          <a:xfrm>
            <a:off x="10642600" y="889000"/>
            <a:ext cx="762000" cy="17780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sp>
        <p:nvSpPr>
          <p:cNvPr id="305" name="bgn"/>
          <p:cNvSpPr/>
          <p:nvPr/>
        </p:nvSpPr>
        <p:spPr>
          <a:xfrm>
            <a:off x="10528300" y="7747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6" name="bgn"/>
          <p:cNvSpPr/>
          <p:nvPr/>
        </p:nvSpPr>
        <p:spPr>
          <a:xfrm>
            <a:off x="11290300" y="13843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7" name="bgn"/>
          <p:cNvSpPr/>
          <p:nvPr/>
        </p:nvSpPr>
        <p:spPr>
          <a:xfrm>
            <a:off x="10528300" y="19939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bgn"/>
          <p:cNvSpPr/>
          <p:nvPr/>
        </p:nvSpPr>
        <p:spPr>
          <a:xfrm>
            <a:off x="11290300" y="25527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9" name="kicker"/>
          <p:cNvSpPr/>
          <p:nvPr/>
        </p:nvSpPr>
        <p:spPr>
          <a:xfrm>
            <a:off x="762000" y="609600"/>
            <a:ext cx="5080000" cy="3048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1400" b="1" spc="400">
                <a:solidFill>
                  <a:srgbClr val="2FE6C8"/>
                </a:solidFill>
                <a:latin typeface="Spline Sans Mono"/>
              </a:rPr>
              <a:t>CONTENTS · 1 OF 3</a:t>
            </a:r>
          </a:p>
        </p:txBody>
      </p:sp>
      <p:sp>
        <p:nvSpPr>
          <p:cNvPr id="310" name="title"/>
          <p:cNvSpPr/>
          <p:nvPr/>
        </p:nvSpPr>
        <p:spPr>
          <a:xfrm>
            <a:off x="711200" y="939800"/>
            <a:ext cx="7620000" cy="711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 spc="-50">
                <a:solidFill>
                  <a:srgbClr val="EAF0F7"/>
                </a:solidFill>
                <a:latin typeface="Fraunces"/>
              </a:rPr>
              <a:t>Table of Contents</a:t>
            </a:r>
          </a:p>
        </p:txBody>
      </p:sp>
      <p:sp>
        <p:nvSpPr>
          <p:cNvPr id="311" name="card"/>
          <p:cNvSpPr/>
          <p:nvPr/>
        </p:nvSpPr>
        <p:spPr>
          <a:xfrm>
            <a:off x="762000" y="1854200"/>
            <a:ext cx="10668000" cy="1193800"/>
          </a:xfrm>
          <a:prstGeom prst="roundRect">
            <a:avLst>
              <a:gd name="adj" fmla="val 7000"/>
            </a:avLst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2" name="num"/>
          <p:cNvSpPr/>
          <p:nvPr/>
        </p:nvSpPr>
        <p:spPr>
          <a:xfrm>
            <a:off x="1092200" y="2133600"/>
            <a:ext cx="1143000" cy="762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4000" b="1">
                <a:solidFill>
                  <a:srgbClr val="2FE6C8"/>
                </a:solidFill>
                <a:latin typeface="Spline Sans Mono"/>
              </a:rPr>
              <a:t>01</a:t>
            </a:r>
          </a:p>
        </p:txBody>
      </p:sp>
      <p:cxnSp>
        <p:nvCxnSpPr>
          <p:cNvPr id="313" name="div"/>
          <p:cNvCxnSpPr/>
          <p:nvPr/>
        </p:nvCxnSpPr>
        <p:spPr>
          <a:xfrm>
            <a:off x="2463800" y="2082800"/>
            <a:ext cx="1" cy="736600"/>
          </a:xfrm>
          <a:prstGeom prst="line">
            <a:avLst/>
          </a:prstGeom>
          <a:ln w="12700">
            <a:solidFill>
              <a:srgbClr val="243047"/>
            </a:solidFill>
          </a:ln>
        </p:spPr>
      </p:cxnSp>
      <p:sp>
        <p:nvSpPr>
          <p:cNvPr id="314" name="txt"/>
          <p:cNvSpPr/>
          <p:nvPr/>
        </p:nvSpPr>
        <p:spPr>
          <a:xfrm>
            <a:off x="2819400" y="1981200"/>
            <a:ext cx="8255000" cy="9398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000" b="1">
                <a:solidFill>
                  <a:srgbClr val="EAF0F7"/>
                </a:solidFill>
                <a:latin typeface="Fraunces"/>
              </a:rPr>
              <a:t>Introduction &amp; Motivation</a:t>
            </a:r>
          </a:p>
          <a:p>
            <a:pPr>
              <a:spcBef>
                <a:spcPts val="4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Why Neural Networks?</a:t>
            </a:r>
          </a:p>
          <a:p>
            <a:pPr>
              <a:spcBef>
                <a:spcPts val="2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Scope: ANN vs. Deep Neural Networks</a:t>
            </a:r>
          </a:p>
        </p:txBody>
      </p:sp>
      <p:sp>
        <p:nvSpPr>
          <p:cNvPr id="315" name="card"/>
          <p:cNvSpPr/>
          <p:nvPr/>
        </p:nvSpPr>
        <p:spPr>
          <a:xfrm>
            <a:off x="762000" y="3200400"/>
            <a:ext cx="10668000" cy="1193800"/>
          </a:xfrm>
          <a:prstGeom prst="roundRect">
            <a:avLst>
              <a:gd name="adj" fmla="val 7000"/>
            </a:avLst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6" name="num"/>
          <p:cNvSpPr/>
          <p:nvPr/>
        </p:nvSpPr>
        <p:spPr>
          <a:xfrm>
            <a:off x="1092200" y="3479800"/>
            <a:ext cx="1143000" cy="762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4000" b="1">
                <a:solidFill>
                  <a:srgbClr val="2FE6C8"/>
                </a:solidFill>
                <a:latin typeface="Spline Sans Mono"/>
              </a:rPr>
              <a:t>02</a:t>
            </a:r>
          </a:p>
        </p:txBody>
      </p:sp>
      <p:cxnSp>
        <p:nvCxnSpPr>
          <p:cNvPr id="317" name="div"/>
          <p:cNvCxnSpPr/>
          <p:nvPr/>
        </p:nvCxnSpPr>
        <p:spPr>
          <a:xfrm>
            <a:off x="2463800" y="3429000"/>
            <a:ext cx="1" cy="736600"/>
          </a:xfrm>
          <a:prstGeom prst="line">
            <a:avLst/>
          </a:prstGeom>
          <a:ln w="12700">
            <a:solidFill>
              <a:srgbClr val="243047"/>
            </a:solidFill>
          </a:ln>
        </p:spPr>
      </p:cxnSp>
      <p:sp>
        <p:nvSpPr>
          <p:cNvPr id="318" name="txt"/>
          <p:cNvSpPr/>
          <p:nvPr/>
        </p:nvSpPr>
        <p:spPr>
          <a:xfrm>
            <a:off x="2819400" y="3327400"/>
            <a:ext cx="8255000" cy="9398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000" b="1">
                <a:solidFill>
                  <a:srgbClr val="EAF0F7"/>
                </a:solidFill>
                <a:latin typeface="Fraunces"/>
              </a:rPr>
              <a:t>Biological Inspiration</a:t>
            </a:r>
          </a:p>
          <a:p>
            <a:pPr>
              <a:spcBef>
                <a:spcPts val="4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The Biological Neuron</a:t>
            </a:r>
          </a:p>
          <a:p>
            <a:pPr>
              <a:spcBef>
                <a:spcPts val="2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From Biology to Computation</a:t>
            </a:r>
          </a:p>
        </p:txBody>
      </p:sp>
      <p:sp>
        <p:nvSpPr>
          <p:cNvPr id="319" name="card"/>
          <p:cNvSpPr/>
          <p:nvPr/>
        </p:nvSpPr>
        <p:spPr>
          <a:xfrm>
            <a:off x="762000" y="4546600"/>
            <a:ext cx="10668000" cy="1524000"/>
          </a:xfrm>
          <a:prstGeom prst="roundRect">
            <a:avLst>
              <a:gd name="adj" fmla="val 7000"/>
            </a:avLst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0" name="num"/>
          <p:cNvSpPr/>
          <p:nvPr/>
        </p:nvSpPr>
        <p:spPr>
          <a:xfrm>
            <a:off x="1092200" y="4851400"/>
            <a:ext cx="1143000" cy="762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4000" b="1">
                <a:solidFill>
                  <a:srgbClr val="2FE6C8"/>
                </a:solidFill>
                <a:latin typeface="Spline Sans Mono"/>
              </a:rPr>
              <a:t>03</a:t>
            </a:r>
          </a:p>
        </p:txBody>
      </p:sp>
      <p:cxnSp>
        <p:nvCxnSpPr>
          <p:cNvPr id="321" name="div"/>
          <p:cNvCxnSpPr/>
          <p:nvPr/>
        </p:nvCxnSpPr>
        <p:spPr>
          <a:xfrm>
            <a:off x="2463800" y="4826000"/>
            <a:ext cx="1" cy="965200"/>
          </a:xfrm>
          <a:prstGeom prst="line">
            <a:avLst/>
          </a:prstGeom>
          <a:ln w="12700">
            <a:solidFill>
              <a:srgbClr val="243047"/>
            </a:solidFill>
          </a:ln>
        </p:spPr>
      </p:cxnSp>
      <p:sp>
        <p:nvSpPr>
          <p:cNvPr id="322" name="txt"/>
          <p:cNvSpPr/>
          <p:nvPr/>
        </p:nvSpPr>
        <p:spPr>
          <a:xfrm>
            <a:off x="2819400" y="4699000"/>
            <a:ext cx="8255000" cy="12192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000" b="1">
                <a:solidFill>
                  <a:srgbClr val="EAF0F7"/>
                </a:solidFill>
                <a:latin typeface="Fraunces"/>
              </a:rPr>
              <a:t>Historical Development</a:t>
            </a:r>
          </a:p>
          <a:p>
            <a:pPr>
              <a:spcBef>
                <a:spcPts val="4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The McCulloch–Pitts Neuron (1943)</a:t>
            </a:r>
          </a:p>
          <a:p>
            <a:pPr>
              <a:spcBef>
                <a:spcPts val="2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Hebbian Learning (1949)</a:t>
            </a:r>
          </a:p>
          <a:p>
            <a:pPr>
              <a:spcBef>
                <a:spcPts val="2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The Perceptron (1958)</a:t>
            </a:r>
          </a:p>
          <a:p>
            <a:pPr>
              <a:spcBef>
                <a:spcPts val="2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The AI Winter and Revival</a:t>
            </a:r>
          </a:p>
        </p:txBody>
      </p:sp>
    </p:spTree>
    <p:extLst>
      <p:ext uri="{BB962C8B-B14F-4D97-AF65-F5344CB8AC3E}">
        <p14:creationId xmlns:p14="http://schemas.microsoft.com/office/powerpoint/2010/main" val="33287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" name="bge"/>
          <p:cNvCxnSpPr/>
          <p:nvPr/>
        </p:nvCxnSpPr>
        <p:spPr>
          <a:xfrm>
            <a:off x="10642600" y="889000"/>
            <a:ext cx="762000" cy="6096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cxnSp>
        <p:nvCxnSpPr>
          <p:cNvPr id="302" name="bge"/>
          <p:cNvCxnSpPr/>
          <p:nvPr/>
        </p:nvCxnSpPr>
        <p:spPr>
          <a:xfrm>
            <a:off x="10642600" y="1498600"/>
            <a:ext cx="762000" cy="6096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cxnSp>
        <p:nvCxnSpPr>
          <p:cNvPr id="303" name="bge"/>
          <p:cNvCxnSpPr/>
          <p:nvPr/>
        </p:nvCxnSpPr>
        <p:spPr>
          <a:xfrm>
            <a:off x="10642600" y="2108200"/>
            <a:ext cx="762000" cy="5588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cxnSp>
        <p:nvCxnSpPr>
          <p:cNvPr id="304" name="bge"/>
          <p:cNvCxnSpPr/>
          <p:nvPr/>
        </p:nvCxnSpPr>
        <p:spPr>
          <a:xfrm>
            <a:off x="10642600" y="889000"/>
            <a:ext cx="762000" cy="17780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sp>
        <p:nvSpPr>
          <p:cNvPr id="305" name="bgn"/>
          <p:cNvSpPr/>
          <p:nvPr/>
        </p:nvSpPr>
        <p:spPr>
          <a:xfrm>
            <a:off x="10528300" y="7747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6" name="bgn"/>
          <p:cNvSpPr/>
          <p:nvPr/>
        </p:nvSpPr>
        <p:spPr>
          <a:xfrm>
            <a:off x="11290300" y="13843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7" name="bgn"/>
          <p:cNvSpPr/>
          <p:nvPr/>
        </p:nvSpPr>
        <p:spPr>
          <a:xfrm>
            <a:off x="10528300" y="19939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bgn"/>
          <p:cNvSpPr/>
          <p:nvPr/>
        </p:nvSpPr>
        <p:spPr>
          <a:xfrm>
            <a:off x="11290300" y="25527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9" name="kicker"/>
          <p:cNvSpPr/>
          <p:nvPr/>
        </p:nvSpPr>
        <p:spPr>
          <a:xfrm>
            <a:off x="762000" y="609600"/>
            <a:ext cx="5080000" cy="3048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1400" b="1" spc="400">
                <a:solidFill>
                  <a:srgbClr val="2FE6C8"/>
                </a:solidFill>
                <a:latin typeface="Spline Sans Mono"/>
              </a:rPr>
              <a:t>CONTENTS · 2 OF 3</a:t>
            </a:r>
          </a:p>
        </p:txBody>
      </p:sp>
      <p:sp>
        <p:nvSpPr>
          <p:cNvPr id="310" name="title"/>
          <p:cNvSpPr/>
          <p:nvPr/>
        </p:nvSpPr>
        <p:spPr>
          <a:xfrm>
            <a:off x="711200" y="939800"/>
            <a:ext cx="7620000" cy="711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 spc="-50">
                <a:solidFill>
                  <a:srgbClr val="EAF0F7"/>
                </a:solidFill>
                <a:latin typeface="Fraunces"/>
              </a:rPr>
              <a:t>Table of Contents</a:t>
            </a:r>
          </a:p>
        </p:txBody>
      </p:sp>
      <p:sp>
        <p:nvSpPr>
          <p:cNvPr id="311" name="card"/>
          <p:cNvSpPr/>
          <p:nvPr/>
        </p:nvSpPr>
        <p:spPr>
          <a:xfrm>
            <a:off x="762000" y="1905000"/>
            <a:ext cx="10668000" cy="1193800"/>
          </a:xfrm>
          <a:prstGeom prst="roundRect">
            <a:avLst>
              <a:gd name="adj" fmla="val 7000"/>
            </a:avLst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2" name="num"/>
          <p:cNvSpPr/>
          <p:nvPr/>
        </p:nvSpPr>
        <p:spPr>
          <a:xfrm>
            <a:off x="1092200" y="2184400"/>
            <a:ext cx="1143000" cy="762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4000" b="1">
                <a:solidFill>
                  <a:srgbClr val="2FE6C8"/>
                </a:solidFill>
                <a:latin typeface="Spline Sans Mono"/>
              </a:rPr>
              <a:t>04</a:t>
            </a:r>
          </a:p>
        </p:txBody>
      </p:sp>
      <p:cxnSp>
        <p:nvCxnSpPr>
          <p:cNvPr id="313" name="div"/>
          <p:cNvCxnSpPr/>
          <p:nvPr/>
        </p:nvCxnSpPr>
        <p:spPr>
          <a:xfrm>
            <a:off x="2463800" y="2133600"/>
            <a:ext cx="1" cy="736600"/>
          </a:xfrm>
          <a:prstGeom prst="line">
            <a:avLst/>
          </a:prstGeom>
          <a:ln w="12700">
            <a:solidFill>
              <a:srgbClr val="243047"/>
            </a:solidFill>
          </a:ln>
        </p:spPr>
      </p:cxnSp>
      <p:sp>
        <p:nvSpPr>
          <p:cNvPr id="314" name="txt"/>
          <p:cNvSpPr/>
          <p:nvPr/>
        </p:nvSpPr>
        <p:spPr>
          <a:xfrm>
            <a:off x="2819400" y="2032000"/>
            <a:ext cx="8255000" cy="9398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000" b="1">
                <a:solidFill>
                  <a:srgbClr val="EAF0F7"/>
                </a:solidFill>
                <a:latin typeface="Fraunces"/>
              </a:rPr>
              <a:t>The Artificial Neuron Model</a:t>
            </a:r>
          </a:p>
          <a:p>
            <a:pPr>
              <a:spcBef>
                <a:spcPts val="4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Mathematical Formulation</a:t>
            </a:r>
          </a:p>
          <a:p>
            <a:pPr>
              <a:spcBef>
                <a:spcPts val="2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Activation Functions</a:t>
            </a:r>
          </a:p>
        </p:txBody>
      </p:sp>
      <p:sp>
        <p:nvSpPr>
          <p:cNvPr id="315" name="card"/>
          <p:cNvSpPr/>
          <p:nvPr/>
        </p:nvSpPr>
        <p:spPr>
          <a:xfrm>
            <a:off x="762000" y="3251200"/>
            <a:ext cx="10668000" cy="1193800"/>
          </a:xfrm>
          <a:prstGeom prst="roundRect">
            <a:avLst>
              <a:gd name="adj" fmla="val 7000"/>
            </a:avLst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6" name="num"/>
          <p:cNvSpPr/>
          <p:nvPr/>
        </p:nvSpPr>
        <p:spPr>
          <a:xfrm>
            <a:off x="1092200" y="3530600"/>
            <a:ext cx="1143000" cy="762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4000" b="1">
                <a:solidFill>
                  <a:srgbClr val="2FE6C8"/>
                </a:solidFill>
                <a:latin typeface="Spline Sans Mono"/>
              </a:rPr>
              <a:t>05</a:t>
            </a:r>
          </a:p>
        </p:txBody>
      </p:sp>
      <p:cxnSp>
        <p:nvCxnSpPr>
          <p:cNvPr id="317" name="div"/>
          <p:cNvCxnSpPr/>
          <p:nvPr/>
        </p:nvCxnSpPr>
        <p:spPr>
          <a:xfrm>
            <a:off x="2463800" y="3479800"/>
            <a:ext cx="1" cy="736600"/>
          </a:xfrm>
          <a:prstGeom prst="line">
            <a:avLst/>
          </a:prstGeom>
          <a:ln w="12700">
            <a:solidFill>
              <a:srgbClr val="243047"/>
            </a:solidFill>
          </a:ln>
        </p:spPr>
      </p:cxnSp>
      <p:sp>
        <p:nvSpPr>
          <p:cNvPr id="318" name="txt"/>
          <p:cNvSpPr/>
          <p:nvPr/>
        </p:nvSpPr>
        <p:spPr>
          <a:xfrm>
            <a:off x="2819400" y="3378200"/>
            <a:ext cx="8255000" cy="9398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000" b="1">
                <a:solidFill>
                  <a:srgbClr val="EAF0F7"/>
                </a:solidFill>
                <a:latin typeface="Fraunces"/>
              </a:rPr>
              <a:t>Logistic Regression as a Single-Neuron ANN</a:t>
            </a:r>
          </a:p>
          <a:p>
            <a:pPr>
              <a:spcBef>
                <a:spcPts val="4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Mathematical Equivalence</a:t>
            </a:r>
          </a:p>
          <a:p>
            <a:pPr>
              <a:spcBef>
                <a:spcPts val="2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Why This Equivalence Matters</a:t>
            </a:r>
          </a:p>
        </p:txBody>
      </p:sp>
      <p:sp>
        <p:nvSpPr>
          <p:cNvPr id="319" name="card"/>
          <p:cNvSpPr/>
          <p:nvPr/>
        </p:nvSpPr>
        <p:spPr>
          <a:xfrm>
            <a:off x="762000" y="4597400"/>
            <a:ext cx="10668000" cy="1371600"/>
          </a:xfrm>
          <a:prstGeom prst="roundRect">
            <a:avLst>
              <a:gd name="adj" fmla="val 7000"/>
            </a:avLst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0" name="num"/>
          <p:cNvSpPr/>
          <p:nvPr/>
        </p:nvSpPr>
        <p:spPr>
          <a:xfrm>
            <a:off x="1092200" y="4876800"/>
            <a:ext cx="1143000" cy="762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4000" b="1">
                <a:solidFill>
                  <a:srgbClr val="2FE6C8"/>
                </a:solidFill>
                <a:latin typeface="Spline Sans Mono"/>
              </a:rPr>
              <a:t>06</a:t>
            </a:r>
          </a:p>
        </p:txBody>
      </p:sp>
      <p:cxnSp>
        <p:nvCxnSpPr>
          <p:cNvPr id="321" name="div"/>
          <p:cNvCxnSpPr/>
          <p:nvPr/>
        </p:nvCxnSpPr>
        <p:spPr>
          <a:xfrm>
            <a:off x="2463800" y="4826000"/>
            <a:ext cx="1" cy="914400"/>
          </a:xfrm>
          <a:prstGeom prst="line">
            <a:avLst/>
          </a:prstGeom>
          <a:ln w="12700">
            <a:solidFill>
              <a:srgbClr val="243047"/>
            </a:solidFill>
          </a:ln>
        </p:spPr>
      </p:cxnSp>
      <p:sp>
        <p:nvSpPr>
          <p:cNvPr id="322" name="txt"/>
          <p:cNvSpPr/>
          <p:nvPr/>
        </p:nvSpPr>
        <p:spPr>
          <a:xfrm>
            <a:off x="2819400" y="4724400"/>
            <a:ext cx="8255000" cy="11176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000" b="1">
                <a:solidFill>
                  <a:srgbClr val="EAF0F7"/>
                </a:solidFill>
                <a:latin typeface="Fraunces"/>
              </a:rPr>
              <a:t>Logic Gates with Perceptrons</a:t>
            </a:r>
          </a:p>
          <a:p>
            <a:pPr>
              <a:spcBef>
                <a:spcPts val="4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AND Gate</a:t>
            </a:r>
          </a:p>
          <a:p>
            <a:pPr>
              <a:spcBef>
                <a:spcPts val="2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OR Gate</a:t>
            </a:r>
          </a:p>
          <a:p>
            <a:pPr>
              <a:spcBef>
                <a:spcPts val="200"/>
              </a:spcBef>
            </a:pPr>
            <a:r>
              <a:rPr lang="en-US" sz="1400">
                <a:solidFill>
                  <a:srgbClr val="8A97AB"/>
                </a:solidFill>
                <a:latin typeface="Familjen Grotesk"/>
              </a:rPr>
              <a:t>The XOR Problem</a:t>
            </a:r>
          </a:p>
        </p:txBody>
      </p:sp>
    </p:spTree>
    <p:extLst>
      <p:ext uri="{BB962C8B-B14F-4D97-AF65-F5344CB8AC3E}">
        <p14:creationId xmlns:p14="http://schemas.microsoft.com/office/powerpoint/2010/main" val="196962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" name="bge"/>
          <p:cNvCxnSpPr/>
          <p:nvPr/>
        </p:nvCxnSpPr>
        <p:spPr>
          <a:xfrm>
            <a:off x="10642600" y="889000"/>
            <a:ext cx="762000" cy="6096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cxnSp>
        <p:nvCxnSpPr>
          <p:cNvPr id="302" name="bge"/>
          <p:cNvCxnSpPr/>
          <p:nvPr/>
        </p:nvCxnSpPr>
        <p:spPr>
          <a:xfrm>
            <a:off x="10642600" y="1498600"/>
            <a:ext cx="762000" cy="6096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cxnSp>
        <p:nvCxnSpPr>
          <p:cNvPr id="303" name="bge"/>
          <p:cNvCxnSpPr/>
          <p:nvPr/>
        </p:nvCxnSpPr>
        <p:spPr>
          <a:xfrm>
            <a:off x="10642600" y="2108200"/>
            <a:ext cx="762000" cy="5588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cxnSp>
        <p:nvCxnSpPr>
          <p:cNvPr id="304" name="bge"/>
          <p:cNvCxnSpPr/>
          <p:nvPr/>
        </p:nvCxnSpPr>
        <p:spPr>
          <a:xfrm>
            <a:off x="10642600" y="889000"/>
            <a:ext cx="762000" cy="1778000"/>
          </a:xfrm>
          <a:prstGeom prst="line">
            <a:avLst/>
          </a:prstGeom>
          <a:ln w="6350">
            <a:solidFill>
              <a:srgbClr val="243047">
                <a:alpha val="35000"/>
              </a:srgbClr>
            </a:solidFill>
          </a:ln>
        </p:spPr>
      </p:cxnSp>
      <p:sp>
        <p:nvSpPr>
          <p:cNvPr id="305" name="bgn"/>
          <p:cNvSpPr/>
          <p:nvPr/>
        </p:nvSpPr>
        <p:spPr>
          <a:xfrm>
            <a:off x="10528300" y="7747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6" name="bgn"/>
          <p:cNvSpPr/>
          <p:nvPr/>
        </p:nvSpPr>
        <p:spPr>
          <a:xfrm>
            <a:off x="11290300" y="13843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7" name="bgn"/>
          <p:cNvSpPr/>
          <p:nvPr/>
        </p:nvSpPr>
        <p:spPr>
          <a:xfrm>
            <a:off x="10528300" y="19939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bgn"/>
          <p:cNvSpPr/>
          <p:nvPr/>
        </p:nvSpPr>
        <p:spPr>
          <a:xfrm>
            <a:off x="11290300" y="2552700"/>
            <a:ext cx="228600" cy="2286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6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9" name="kicker"/>
          <p:cNvSpPr/>
          <p:nvPr/>
        </p:nvSpPr>
        <p:spPr>
          <a:xfrm>
            <a:off x="762000" y="609600"/>
            <a:ext cx="5080000" cy="3048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1400" b="1" spc="400">
                <a:solidFill>
                  <a:srgbClr val="2FE6C8"/>
                </a:solidFill>
                <a:latin typeface="Spline Sans Mono"/>
              </a:rPr>
              <a:t>CONTENTS · 3 OF 3</a:t>
            </a:r>
          </a:p>
        </p:txBody>
      </p:sp>
      <p:sp>
        <p:nvSpPr>
          <p:cNvPr id="310" name="title"/>
          <p:cNvSpPr/>
          <p:nvPr/>
        </p:nvSpPr>
        <p:spPr>
          <a:xfrm>
            <a:off x="711200" y="939800"/>
            <a:ext cx="7620000" cy="711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 spc="-50">
                <a:solidFill>
                  <a:srgbClr val="EAF0F7"/>
                </a:solidFill>
                <a:latin typeface="Fraunces"/>
              </a:rPr>
              <a:t>Table of Contents</a:t>
            </a:r>
          </a:p>
        </p:txBody>
      </p:sp>
      <p:sp>
        <p:nvSpPr>
          <p:cNvPr id="311" name="card"/>
          <p:cNvSpPr/>
          <p:nvPr/>
        </p:nvSpPr>
        <p:spPr>
          <a:xfrm>
            <a:off x="762000" y="2235200"/>
            <a:ext cx="10668000" cy="1905000"/>
          </a:xfrm>
          <a:prstGeom prst="roundRect">
            <a:avLst>
              <a:gd name="adj" fmla="val 5000"/>
            </a:avLst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2" name="num"/>
          <p:cNvSpPr/>
          <p:nvPr/>
        </p:nvSpPr>
        <p:spPr>
          <a:xfrm>
            <a:off x="1117600" y="2590800"/>
            <a:ext cx="1270000" cy="8382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4400" b="1">
                <a:solidFill>
                  <a:srgbClr val="2FE6C8"/>
                </a:solidFill>
                <a:latin typeface="Spline Sans Mono"/>
              </a:rPr>
              <a:t>07</a:t>
            </a:r>
          </a:p>
        </p:txBody>
      </p:sp>
      <p:cxnSp>
        <p:nvCxnSpPr>
          <p:cNvPr id="313" name="div"/>
          <p:cNvCxnSpPr/>
          <p:nvPr/>
        </p:nvCxnSpPr>
        <p:spPr>
          <a:xfrm>
            <a:off x="2641600" y="2540000"/>
            <a:ext cx="1" cy="1295400"/>
          </a:xfrm>
          <a:prstGeom prst="line">
            <a:avLst/>
          </a:prstGeom>
          <a:ln w="12700">
            <a:solidFill>
              <a:srgbClr val="243047"/>
            </a:solidFill>
          </a:ln>
        </p:spPr>
      </p:cxnSp>
      <p:sp>
        <p:nvSpPr>
          <p:cNvPr id="314" name="txt"/>
          <p:cNvSpPr/>
          <p:nvPr/>
        </p:nvSpPr>
        <p:spPr>
          <a:xfrm>
            <a:off x="3022600" y="2438400"/>
            <a:ext cx="8051800" cy="14986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200" b="1">
                <a:solidFill>
                  <a:srgbClr val="EAF0F7"/>
                </a:solidFill>
                <a:latin typeface="Fraunces"/>
              </a:rPr>
              <a:t>Single-Layer vs. Multi-Layer Perceptrons</a:t>
            </a:r>
          </a:p>
          <a:p>
            <a:pPr>
              <a:spcBef>
                <a:spcPts val="500"/>
              </a:spcBef>
            </a:pPr>
            <a:r>
              <a:rPr lang="en-US" sz="1500">
                <a:solidFill>
                  <a:srgbClr val="8A97AB"/>
                </a:solidFill>
                <a:latin typeface="Familjen Grotesk"/>
              </a:rPr>
              <a:t>Single-Layer Perceptron Limitations</a:t>
            </a:r>
          </a:p>
          <a:p>
            <a:pPr>
              <a:spcBef>
                <a:spcPts val="300"/>
              </a:spcBef>
            </a:pPr>
            <a:r>
              <a:rPr lang="en-US" sz="1500">
                <a:solidFill>
                  <a:srgbClr val="8A97AB"/>
                </a:solidFill>
                <a:latin typeface="Familjen Grotesk"/>
              </a:rPr>
              <a:t>Multi-Layer Perceptron Architecture</a:t>
            </a:r>
          </a:p>
          <a:p>
            <a:pPr>
              <a:spcBef>
                <a:spcPts val="300"/>
              </a:spcBef>
            </a:pPr>
            <a:r>
              <a:rPr lang="en-US" sz="1500">
                <a:solidFill>
                  <a:srgbClr val="8A97AB"/>
                </a:solidFill>
                <a:latin typeface="Familjen Grotesk"/>
              </a:rPr>
              <a:t>Solving XOR with MLP</a:t>
            </a:r>
          </a:p>
        </p:txBody>
      </p:sp>
      <p:sp>
        <p:nvSpPr>
          <p:cNvPr id="315" name="card"/>
          <p:cNvSpPr/>
          <p:nvPr/>
        </p:nvSpPr>
        <p:spPr>
          <a:xfrm>
            <a:off x="762000" y="4394200"/>
            <a:ext cx="10668000" cy="1651000"/>
          </a:xfrm>
          <a:prstGeom prst="roundRect">
            <a:avLst>
              <a:gd name="adj" fmla="val 5000"/>
            </a:avLst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6" name="num"/>
          <p:cNvSpPr/>
          <p:nvPr/>
        </p:nvSpPr>
        <p:spPr>
          <a:xfrm>
            <a:off x="1117600" y="4749800"/>
            <a:ext cx="1270000" cy="8382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4400" b="1">
                <a:solidFill>
                  <a:srgbClr val="2FE6C8"/>
                </a:solidFill>
                <a:latin typeface="Spline Sans Mono"/>
              </a:rPr>
              <a:t>08</a:t>
            </a:r>
          </a:p>
        </p:txBody>
      </p:sp>
      <p:cxnSp>
        <p:nvCxnSpPr>
          <p:cNvPr id="317" name="div"/>
          <p:cNvCxnSpPr/>
          <p:nvPr/>
        </p:nvCxnSpPr>
        <p:spPr>
          <a:xfrm>
            <a:off x="2641600" y="4699000"/>
            <a:ext cx="1" cy="1041400"/>
          </a:xfrm>
          <a:prstGeom prst="line">
            <a:avLst/>
          </a:prstGeom>
          <a:ln w="12700">
            <a:solidFill>
              <a:srgbClr val="243047"/>
            </a:solidFill>
          </a:ln>
        </p:spPr>
      </p:cxnSp>
      <p:sp>
        <p:nvSpPr>
          <p:cNvPr id="318" name="txt"/>
          <p:cNvSpPr/>
          <p:nvPr/>
        </p:nvSpPr>
        <p:spPr>
          <a:xfrm>
            <a:off x="3022600" y="4597400"/>
            <a:ext cx="8051800" cy="12446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2200" b="1">
                <a:solidFill>
                  <a:srgbClr val="EAF0F7"/>
                </a:solidFill>
                <a:latin typeface="Fraunces"/>
              </a:rPr>
              <a:t>Learning Algorithms</a:t>
            </a:r>
          </a:p>
          <a:p>
            <a:pPr>
              <a:spcBef>
                <a:spcPts val="500"/>
              </a:spcBef>
            </a:pPr>
            <a:r>
              <a:rPr lang="en-US" sz="1500">
                <a:solidFill>
                  <a:srgbClr val="8A97AB"/>
                </a:solidFill>
                <a:latin typeface="Familjen Grotesk"/>
              </a:rPr>
              <a:t>The Perceptron Learning Rule</a:t>
            </a:r>
          </a:p>
          <a:p>
            <a:pPr>
              <a:spcBef>
                <a:spcPts val="300"/>
              </a:spcBef>
            </a:pPr>
            <a:r>
              <a:rPr lang="en-US" sz="1500">
                <a:solidFill>
                  <a:srgbClr val="8A97AB"/>
                </a:solidFill>
                <a:latin typeface="Familjen Grotesk"/>
              </a:rPr>
              <a:t>Backpropagation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159261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" name="bge"/>
          <p:cNvCxnSpPr/>
          <p:nvPr/>
        </p:nvCxnSpPr>
        <p:spPr>
          <a:xfrm>
            <a:off x="889000" y="5969000"/>
            <a:ext cx="889000" cy="381000"/>
          </a:xfrm>
          <a:prstGeom prst="line">
            <a:avLst/>
          </a:prstGeom>
          <a:ln w="6350">
            <a:solidFill>
              <a:srgbClr val="243047">
                <a:alpha val="30000"/>
              </a:srgbClr>
            </a:solidFill>
          </a:ln>
        </p:spPr>
      </p:cxnSp>
      <p:cxnSp>
        <p:nvCxnSpPr>
          <p:cNvPr id="302" name="bge"/>
          <p:cNvCxnSpPr/>
          <p:nvPr/>
        </p:nvCxnSpPr>
        <p:spPr>
          <a:xfrm>
            <a:off x="889000" y="6350000"/>
            <a:ext cx="889000" cy="12700"/>
          </a:xfrm>
          <a:prstGeom prst="line">
            <a:avLst/>
          </a:prstGeom>
          <a:ln w="6350">
            <a:solidFill>
              <a:srgbClr val="243047">
                <a:alpha val="30000"/>
              </a:srgbClr>
            </a:solidFill>
          </a:ln>
        </p:spPr>
      </p:cxnSp>
      <p:cxnSp>
        <p:nvCxnSpPr>
          <p:cNvPr id="303" name="bge"/>
          <p:cNvCxnSpPr/>
          <p:nvPr/>
        </p:nvCxnSpPr>
        <p:spPr>
          <a:xfrm flipV="1">
            <a:off x="889000" y="5588000"/>
            <a:ext cx="889000" cy="381000"/>
          </a:xfrm>
          <a:prstGeom prst="line">
            <a:avLst/>
          </a:prstGeom>
          <a:ln w="6350">
            <a:solidFill>
              <a:srgbClr val="243047">
                <a:alpha val="30000"/>
              </a:srgbClr>
            </a:solidFill>
          </a:ln>
        </p:spPr>
      </p:cxnSp>
      <p:sp>
        <p:nvSpPr>
          <p:cNvPr id="304" name="bgn"/>
          <p:cNvSpPr/>
          <p:nvPr/>
        </p:nvSpPr>
        <p:spPr>
          <a:xfrm>
            <a:off x="787400" y="5867400"/>
            <a:ext cx="203200" cy="2032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bgn"/>
          <p:cNvSpPr/>
          <p:nvPr/>
        </p:nvSpPr>
        <p:spPr>
          <a:xfrm>
            <a:off x="1676400" y="6248400"/>
            <a:ext cx="203200" cy="2032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6" name="bgn"/>
          <p:cNvSpPr/>
          <p:nvPr/>
        </p:nvSpPr>
        <p:spPr>
          <a:xfrm>
            <a:off x="1676400" y="5486400"/>
            <a:ext cx="203200" cy="203200"/>
          </a:xfrm>
          <a:prstGeom prst="ellipse">
            <a:avLst/>
          </a:prstGeom>
          <a:solidFill>
            <a:srgbClr val="161D2C"/>
          </a:solidFill>
          <a:ln w="9525">
            <a:solidFill>
              <a:srgbClr val="243047">
                <a:alpha val="55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7" name="kicker"/>
          <p:cNvSpPr/>
          <p:nvPr/>
        </p:nvSpPr>
        <p:spPr>
          <a:xfrm>
            <a:off x="762000" y="838200"/>
            <a:ext cx="3810000" cy="3048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lang="en-US" sz="1400" b="1" spc="400">
                <a:solidFill>
                  <a:srgbClr val="2FE6C8"/>
                </a:solidFill>
                <a:latin typeface="Spline Sans Mono"/>
              </a:rPr>
              <a:t>SECTION 01</a:t>
            </a:r>
          </a:p>
        </p:txBody>
      </p:sp>
      <p:sp>
        <p:nvSpPr>
          <p:cNvPr id="308" name="bignum"/>
          <p:cNvSpPr/>
          <p:nvPr/>
        </p:nvSpPr>
        <p:spPr>
          <a:xfrm>
            <a:off x="660400" y="1168400"/>
            <a:ext cx="3048000" cy="1905000"/>
          </a:xfrm>
          <a:prstGeom prst="rect">
            <a:avLst/>
          </a:prstGeom>
          <a:noFill/>
        </p:spPr>
        <p:txBody>
          <a:bodyPr anchor="t"/>
          <a:lstStyle/>
          <a:p>
            <a:r>
              <a:rPr lang="en-US" sz="14000" b="1" spc="-200">
                <a:solidFill>
                  <a:srgbClr val="2FE6C8"/>
                </a:solidFill>
                <a:latin typeface="Spline Sans Mono"/>
              </a:rPr>
              <a:t>01</a:t>
            </a:r>
          </a:p>
        </p:txBody>
      </p:sp>
      <p:sp>
        <p:nvSpPr>
          <p:cNvPr id="309" name="title"/>
          <p:cNvSpPr/>
          <p:nvPr/>
        </p:nvSpPr>
        <p:spPr>
          <a:xfrm>
            <a:off x="762000" y="3251200"/>
            <a:ext cx="3810000" cy="2540000"/>
          </a:xfrm>
          <a:prstGeom prst="rect">
            <a:avLst/>
          </a:prstGeom>
          <a:noFill/>
        </p:spPr>
        <p:txBody>
          <a:bodyPr/>
          <a:lstStyle/>
          <a:p>
            <a:pPr>
              <a:lnSpc>
                <a:spcPct val="98000"/>
              </a:lnSpc>
            </a:pPr>
            <a:r>
              <a:rPr lang="en-US" sz="3600" b="1" spc="-50">
                <a:solidFill>
                  <a:srgbClr val="EAF0F7"/>
                </a:solidFill>
                <a:latin typeface="Fraunces"/>
              </a:rPr>
              <a:t>Introduction </a:t>
            </a:r>
          </a:p>
          <a:p>
            <a:pPr>
              <a:lnSpc>
                <a:spcPct val="98000"/>
              </a:lnSpc>
            </a:pPr>
            <a:r>
              <a:rPr lang="en-US" sz="3600" b="1" i="1" spc="-50">
                <a:solidFill>
                  <a:srgbClr val="2FE6C8"/>
                </a:solidFill>
                <a:latin typeface="Fraunces"/>
              </a:rPr>
              <a:t>&amp; Motivation</a:t>
            </a:r>
          </a:p>
        </p:txBody>
      </p:sp>
      <p:sp>
        <p:nvSpPr>
          <p:cNvPr id="310" name="card"/>
          <p:cNvSpPr/>
          <p:nvPr/>
        </p:nvSpPr>
        <p:spPr>
          <a:xfrm>
            <a:off x="5334000" y="838200"/>
            <a:ext cx="6096000" cy="5181600"/>
          </a:xfrm>
          <a:prstGeom prst="roundRect">
            <a:avLst>
              <a:gd name="adj" fmla="val 4500"/>
            </a:avLst>
          </a:prstGeom>
          <a:solidFill>
            <a:srgbClr val="161D2C"/>
          </a:solidFill>
          <a:ln w="12700">
            <a:solidFill>
              <a:srgbClr val="24304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1" name="bullets"/>
          <p:cNvSpPr/>
          <p:nvPr/>
        </p:nvSpPr>
        <p:spPr>
          <a:xfrm>
            <a:off x="5765800" y="1270000"/>
            <a:ext cx="5232400" cy="4318000"/>
          </a:xfrm>
          <a:prstGeom prst="rect">
            <a:avLst/>
          </a:prstGeom>
          <a:noFill/>
        </p:spPr>
        <p:txBody>
          <a:bodyPr anchor="ctr"/>
          <a:lstStyle/>
          <a:p>
            <a:pPr marL="285750" indent="-285750">
              <a:spcBef>
                <a:spcPts val="0"/>
              </a:spcBef>
              <a:buClr>
                <a:srgbClr val="2FE6C8"/>
              </a:buClr>
              <a:buFont typeface="Arial"/>
              <a:buChar char="–"/>
            </a:pPr>
            <a:r>
              <a:rPr lang="en-US" sz="1400">
                <a:solidFill>
                  <a:srgbClr val="EAF0F7"/>
                </a:solidFill>
                <a:latin typeface="Familjen Grotesk"/>
              </a:rPr>
              <a:t>Artificial Neural Networks (ANNs) represent one of the most influential computational paradigms in the history of artificial intelligence and machine learning.</a:t>
            </a:r>
          </a:p>
          <a:p>
            <a:pPr marL="285750" indent="-285750">
              <a:spcBef>
                <a:spcPts val="800"/>
              </a:spcBef>
              <a:buClr>
                <a:srgbClr val="2FE6C8"/>
              </a:buClr>
              <a:buFont typeface="Arial"/>
              <a:buChar char="–"/>
            </a:pPr>
            <a:r>
              <a:rPr lang="en-US" sz="1400">
                <a:solidFill>
                  <a:srgbClr val="EAF0F7"/>
                </a:solidFill>
                <a:latin typeface="Familjen Grotesk"/>
              </a:rPr>
              <a:t>Inspired by the remarkable information-processing capabilities of biological brains, ANNs have evolved from simple mathematical models of individual neurons into powerful frameworks capable of learning complex patterns from data.</a:t>
            </a:r>
          </a:p>
          <a:p>
            <a:pPr marL="285750" indent="-285750">
              <a:spcBef>
                <a:spcPts val="800"/>
              </a:spcBef>
              <a:buClr>
                <a:srgbClr val="2FE6C8"/>
              </a:buClr>
              <a:buFont typeface="Arial"/>
              <a:buChar char="–"/>
            </a:pPr>
            <a:r>
              <a:rPr lang="en-US" sz="1400">
                <a:solidFill>
                  <a:srgbClr val="EAF0F7"/>
                </a:solidFill>
                <a:latin typeface="Familjen Grotesk"/>
              </a:rPr>
              <a:t>This document provides a comprehensive exploration of ANN fundamentals, tracing their historical development, examining their biological inspiration, establishing the mathematical equivalence between logistic regression and single-neuron networks, and demonstrating how these architectures can implement fundamental logical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34324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80401993652]">
  <a:themeElements>
    <a:clrScheme name="Office">
      <a:dk1>
        <a:srgbClr val="EAF0F7"/>
      </a:dk1>
      <a:lt1>
        <a:srgbClr val="0A0E16"/>
      </a:lt1>
      <a:dk2>
        <a:srgbClr val="0F1521"/>
      </a:dk2>
      <a:lt2>
        <a:srgbClr val="161D2C"/>
      </a:lt2>
      <a:accent1>
        <a:srgbClr val="2FE6C8"/>
      </a:accent1>
      <a:accent2>
        <a:srgbClr val="FF9D5C"/>
      </a:accent2>
      <a:accent3>
        <a:srgbClr val="9B8CFF"/>
      </a:accent3>
      <a:accent4>
        <a:srgbClr val="243047"/>
      </a:accent4>
      <a:accent5>
        <a:srgbClr val="8A97AB"/>
      </a:accent5>
      <a:accent6>
        <a:srgbClr val="56627A"/>
      </a:accent6>
      <a:hlink>
        <a:srgbClr val="0563C1"/>
      </a:hlink>
      <a:folHlink>
        <a:srgbClr val="954F72"/>
      </a:folHlink>
    </a:clrScheme>
    <a:fontScheme name="Office">
      <a:majorFont>
        <a:latin typeface="Fraunces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amiljen Grotes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 [1780402851169]">
  <a:themeElements>
    <a:clrScheme name="Office">
      <a:dk1>
        <a:srgbClr val="EAF0F7"/>
      </a:dk1>
      <a:lt1>
        <a:srgbClr val="0A0E16"/>
      </a:lt1>
      <a:dk2>
        <a:srgbClr val="0F1521"/>
      </a:dk2>
      <a:lt2>
        <a:srgbClr val="161D2C"/>
      </a:lt2>
      <a:accent1>
        <a:srgbClr val="2FE6C8"/>
      </a:accent1>
      <a:accent2>
        <a:srgbClr val="FF9D5C"/>
      </a:accent2>
      <a:accent3>
        <a:srgbClr val="9B8CFF"/>
      </a:accent3>
      <a:accent4>
        <a:srgbClr val="243047"/>
      </a:accent4>
      <a:accent5>
        <a:srgbClr val="8A97AB"/>
      </a:accent5>
      <a:accent6>
        <a:srgbClr val="56627A"/>
      </a:accent6>
      <a:hlink>
        <a:srgbClr val="0563C1"/>
      </a:hlink>
      <a:folHlink>
        <a:srgbClr val="954F72"/>
      </a:folHlink>
    </a:clrScheme>
    <a:fontScheme name="Office">
      <a:majorFont>
        <a:latin typeface="Fraunces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amiljen Grotes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FD1C41-3733-4A61-8BC7-F10AFCFFE8F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617e79c-e03a-4b84-bc5b-9413c426d28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268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Calibri Light</vt:lpstr>
      <vt:lpstr>Familjen Grotesk</vt:lpstr>
      <vt:lpstr>Fraunces</vt:lpstr>
      <vt:lpstr>Spline Sans Mono</vt:lpstr>
      <vt:lpstr>Office Theme</vt:lpstr>
      <vt:lpstr>Office Theme [1780401993652]</vt:lpstr>
      <vt:lpstr>Office Theme [1780402851169]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Milan Amrut Joshi</dc:creator>
  <cp:lastModifiedBy>Milan Joshi</cp:lastModifiedBy>
  <cp:revision>3</cp:revision>
  <dcterms:created xsi:type="dcterms:W3CDTF">2026-06-02T12:04:02Z</dcterms:created>
  <dcterms:modified xsi:type="dcterms:W3CDTF">2026-06-02T12:40:44Z</dcterms:modified>
</cp:coreProperties>
</file>